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696" y="96"/>
      </p:cViewPr>
      <p:guideLst/>
    </p:cSldViewPr>
  </p:slideViewPr>
  <p:notesTextViewPr>
    <p:cViewPr>
      <p:scale>
        <a:sx n="1" d="1"/>
        <a:sy n="1" d="1"/>
      </p:scale>
      <p:origin x="0" y="-174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81D707-A94A-4178-8852-625BE6C2022D}" type="datetimeFigureOut">
              <a:rPr lang="de-DE" smtClean="0"/>
              <a:t>27.09.2026</a:t>
            </a:fld>
            <a:endParaRPr lang="de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D89447-99D4-455B-AC7D-81B0F0BC37B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909836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D89447-99D4-455B-AC7D-81B0F0BC37B7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843417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3B7B1-5866-8D4A-C369-A0718BB66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3BB1FB-3F10-9185-B75E-214AF58FCA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359157-BA05-2A70-22CE-38544B7520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Starter repo for part 2 of the course:</a:t>
            </a:r>
          </a:p>
          <a:p>
            <a:r>
              <a:rPr lang="de-DE" dirty="0"/>
              <a:t>- https://github.com/bradtraversy/crypto-dash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C0BB11-5B7B-4E57-A680-CDAFE471FC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D89447-99D4-455B-AC7D-81B0F0BC37B7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39711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BB2D8-6084-BFA6-1D3D-872BDE2957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D9C7FE-5F67-E736-FE39-7A22370D7C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4F887E-9439-1D94-D6B2-F8F6EE0554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- For better structuring, breakdown instructions by topic or component, create specific .md file with detailed instructions respectively, and reference these files in the main .CLAUDE.md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47D8BD-7928-612F-9C65-30371D4A91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D89447-99D4-455B-AC7D-81B0F0BC37B7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634898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59C2B-F996-92EC-89D7-8787BEFDC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467F08-7D13-31F3-EA36-DDE5D0D433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B77EDB-6E87-0545-D83E-5D9763672E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Brad‘s common MCPS:</a:t>
            </a:r>
          </a:p>
          <a:p>
            <a:pPr marL="171450" indent="-171450">
              <a:buFontTx/>
              <a:buChar char="-"/>
            </a:pPr>
            <a:r>
              <a:rPr lang="de-DE" dirty="0"/>
              <a:t>Context7</a:t>
            </a:r>
          </a:p>
          <a:p>
            <a:pPr marL="171450" indent="-171450">
              <a:buFontTx/>
              <a:buChar char="-"/>
            </a:pPr>
            <a:r>
              <a:rPr lang="de-DE" dirty="0"/>
              <a:t>Neon</a:t>
            </a:r>
          </a:p>
          <a:p>
            <a:pPr marL="171450" indent="-171450">
              <a:buFontTx/>
              <a:buChar char="-"/>
            </a:pPr>
            <a:r>
              <a:rPr lang="de-DE" dirty="0"/>
              <a:t>Playwright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D9AC08-F06F-3B42-A4D2-B98B8C5AB6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D89447-99D4-455B-AC7D-81B0F0BC37B7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782460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0BC5E-F3C9-B300-A5CD-5E69BC625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C41F6C-CE0C-E8DA-440A-1A20C8B926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CB2B63-9B97-BB3E-610E-6CBE8ED801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7A9B71-82EE-EAE7-2951-67DC3D7E49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D89447-99D4-455B-AC7D-81B0F0BC37B7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155836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FCE90A-AE16-CF23-2C46-50B9547DBC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9E212A-776C-DDE1-D55C-6C15A96B33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FDDED5-41DC-AA66-6C9A-F24DF32D0A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/>
              <a:t>Basically a seperate claude session to handle a specific task</a:t>
            </a:r>
          </a:p>
          <a:p>
            <a:pPr marL="171450" indent="-171450">
              <a:buFontTx/>
              <a:buChar char="-"/>
            </a:pPr>
            <a:r>
              <a:rPr lang="de-DE" dirty="0"/>
              <a:t>Has own context window</a:t>
            </a:r>
          </a:p>
          <a:p>
            <a:pPr marL="171450" indent="-171450">
              <a:buFontTx/>
              <a:buChar char="-"/>
            </a:pPr>
            <a:r>
              <a:rPr lang="de-DE" dirty="0"/>
              <a:t>Example use cases: dead code, code to optimize</a:t>
            </a:r>
          </a:p>
          <a:p>
            <a:pPr marL="171450" indent="-171450">
              <a:buFontTx/>
              <a:buChar char="-"/>
            </a:pPr>
            <a:r>
              <a:rPr lang="de-DE" dirty="0"/>
              <a:t>Built-in for example: </a:t>
            </a:r>
            <a:r>
              <a:rPr lang="de-DE"/>
              <a:t>Explore Subagent</a:t>
            </a:r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918AA8-06A0-7FF0-9330-2BD068EDA0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D89447-99D4-455B-AC7D-81B0F0BC37B7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564356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F976E5-F932-6287-9509-7679F1788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7A5447-E2E7-EE77-443E-16A4D8A722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8BD1F8-2E1F-27B3-0CBD-7FB0EF42A4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ED0964-8D52-6020-66B0-7A5B33EB16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D89447-99D4-455B-AC7D-81B0F0BC37B7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948222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81C52-19F5-A081-1FF4-ED848E581A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4FC514-8BF3-1445-4166-85D93DE624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C0BE92-9C2E-C289-4C07-EEFC08FA4B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92143C-53EE-41EA-BBDF-64BF30B74E9D}" type="datetimeFigureOut">
              <a:rPr lang="de-DE" smtClean="0"/>
              <a:t>27.09.2026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C47F3D-2E9F-494D-6493-42D818E4B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4319-4200-98AB-29FA-DAB4BA755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A2855E-9452-4999-860E-C1F334FB5A8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221671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5A3E7-E5A0-E281-CF2B-29FEC39F0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1D7343-2E90-CE42-4235-A19121BCF1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9CF6C3-3796-20D2-630C-F34BBF2FD4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92143C-53EE-41EA-BBDF-64BF30B74E9D}" type="datetimeFigureOut">
              <a:rPr lang="de-DE" smtClean="0"/>
              <a:t>27.09.2026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9C7AB8-A6D8-4AAE-6539-47FD3E1000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61FA6F-25F3-03C1-257B-A6D0C23A0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A2855E-9452-4999-860E-C1F334FB5A8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903553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7404B8-8047-FC7A-9098-78F60F2A60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14D8E5-3991-9E84-3805-EDA81FED65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A8B251-7AF7-3622-0B79-D4CE72D7E4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92143C-53EE-41EA-BBDF-64BF30B74E9D}" type="datetimeFigureOut">
              <a:rPr lang="de-DE" smtClean="0"/>
              <a:t>27.09.2026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6F86DA-4B83-E2FE-E996-C017B30E6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C0B29A-C173-B5F1-0C27-D71C7CE96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A2855E-9452-4999-860E-C1F334FB5A8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282880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7147D-7860-08EE-2544-A323858C55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BF049C-3077-8D1E-552B-F79F8F5690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7E01C1-C4C1-D6EA-253D-B9E2581B3F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70E6B1-3AED-E458-7859-D1B1698275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92143C-53EE-41EA-BBDF-64BF30B74E9D}" type="datetimeFigureOut">
              <a:rPr lang="de-DE" smtClean="0"/>
              <a:t>27.09.2026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14811A-82D1-96CA-2A24-FDC7A438D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091C0A-077E-4D59-9B8A-F4767925D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A2855E-9452-4999-860E-C1F334FB5A8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63420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650065-9187-60EC-094F-DAE15747AA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0577C2-E6DC-F9A4-F069-A51E1F80D4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7D018F-E32D-23C6-643C-3138EE436B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4E8F569-9B7C-88E7-C5B9-7D24CB158D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B1D04B7-6461-85C3-0AE6-20A513A8FE4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292C469-D437-7AB5-46FB-7EB9203A1D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92143C-53EE-41EA-BBDF-64BF30B74E9D}" type="datetimeFigureOut">
              <a:rPr lang="de-DE" smtClean="0"/>
              <a:t>27.09.2026</a:t>
            </a:fld>
            <a:endParaRPr lang="de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308FA31-E8EE-1F02-FD99-634D49480C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27399C6-CB1F-B448-EE47-3ADA17DEA5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A2855E-9452-4999-860E-C1F334FB5A8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200769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7BAFA8-430C-E42C-12BC-3CBD3AAABD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85164A-82E3-6357-BF8D-A79B543F96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92143C-53EE-41EA-BBDF-64BF30B74E9D}" type="datetimeFigureOut">
              <a:rPr lang="de-DE" smtClean="0"/>
              <a:t>27.09.2026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B03F3F3-E7AA-2621-3069-33D80E1F82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A3FB32-5B2F-5FC4-6A21-28643B205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A2855E-9452-4999-860E-C1F334FB5A8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317598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4D920B-AFA3-7BAE-D3D0-66E7B555F2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92143C-53EE-41EA-BBDF-64BF30B74E9D}" type="datetimeFigureOut">
              <a:rPr lang="de-DE" smtClean="0"/>
              <a:t>27.09.2026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2F5F11B-0A4E-A2B4-A550-AEF835A97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E4550C-B069-43E5-7A2C-41F2B7713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A2855E-9452-4999-860E-C1F334FB5A8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83106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AF003A-D712-BB6E-E021-E40FC85A55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CD885D-9458-FEFB-69F8-18B4E559F3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0E9E77-1E38-2698-0B8C-B54E35BA21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C186D2-B037-4570-2E89-9B708DFA2E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92143C-53EE-41EA-BBDF-64BF30B74E9D}" type="datetimeFigureOut">
              <a:rPr lang="de-DE" smtClean="0"/>
              <a:t>27.09.2026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E83EABB-62A3-F264-F826-FB60552749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678F40-2375-83D8-97FF-4FF3CAB52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A2855E-9452-4999-860E-C1F334FB5A8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403956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8F7A48-AE08-7DEC-6719-7742CB3692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DDB4BA-11ED-6C9B-3628-8D09F68F54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BF0400-0D92-3EA0-8C14-34D787E67D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8B3F01-8151-AB27-FB8A-8A55E31F0D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92143C-53EE-41EA-BBDF-64BF30B74E9D}" type="datetimeFigureOut">
              <a:rPr lang="de-DE" smtClean="0"/>
              <a:t>27.09.2026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AD0145-0AE7-38B3-235C-AD70AF13D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DEE956-87F7-5A7C-9709-41DF64207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A2855E-9452-4999-860E-C1F334FB5A8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165604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046FD5-58F3-C2F5-2C7D-087E6E17E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F0F0955-8863-77E0-95E4-466A14E299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FE43AF-5BE2-343D-4134-5EFB666432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92143C-53EE-41EA-BBDF-64BF30B74E9D}" type="datetimeFigureOut">
              <a:rPr lang="de-DE" smtClean="0"/>
              <a:t>27.09.2026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721C1A-83C0-E020-4706-1CC7FC7C93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BD50A7-1408-FF41-8AB8-9276119FA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A2855E-9452-4999-860E-C1F334FB5A8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753662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FF70F10-E932-8D76-2317-545FA0894F4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185F7C1-0FE3-16D2-0672-8968D2F882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9653C3-9E2A-268F-7989-55FD677AF6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92143C-53EE-41EA-BBDF-64BF30B74E9D}" type="datetimeFigureOut">
              <a:rPr lang="de-DE" smtClean="0"/>
              <a:t>27.09.2026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DC4979-768A-66AC-1C5F-DC37675E0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5C64F3-B34F-78AC-FE34-6D77F2771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A2855E-9452-4999-860E-C1F334FB5A8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923389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0981550-FD6F-7007-85B2-E820180BDB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4221E9-64E1-046C-0ABC-02D73EB989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8B0D9E-0E3F-1890-0613-833F42570F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92143C-53EE-41EA-BBDF-64BF30B74E9D}" type="datetimeFigureOut">
              <a:rPr lang="de-DE" smtClean="0"/>
              <a:t>27.09.2026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4C187C-BD66-965E-48D8-D56D4B0A26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395A61-8B39-A642-7D36-FDE1E4FA46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A2855E-9452-4999-860E-C1F334FB5A8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98887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C2GpeepcmYs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st.github.com/bradtraversy/9937e0ecfc8a5b269ce6a885636670dc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bradtraversy/crypto-dash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48D5BBA-032B-5CA4-93F8-F6B6C4D6A77C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BD35D34-4E4A-95F0-5303-54A81F30A4F7}"/>
              </a:ext>
            </a:extLst>
          </p:cNvPr>
          <p:cNvSpPr txBox="1"/>
          <p:nvPr/>
        </p:nvSpPr>
        <p:spPr>
          <a:xfrm>
            <a:off x="1103376" y="5314696"/>
            <a:ext cx="1882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dirty="0">
                <a:solidFill>
                  <a:srgbClr val="00B0F0"/>
                </a:solidFill>
                <a:latin typeface="Kanit Light" panose="00000400000000000000" pitchFamily="2" charset="-34"/>
                <a:ea typeface="Verdana" panose="020B0604030504040204" pitchFamily="34" charset="0"/>
                <a:cs typeface="Kanit Light" panose="00000400000000000000" pitchFamily="2" charset="-34"/>
                <a:hlinkClick r:id="rId3"/>
              </a:rPr>
              <a:t>YouTube video</a:t>
            </a:r>
            <a:r>
              <a:rPr lang="de-DE" b="1" dirty="0">
                <a:solidFill>
                  <a:srgbClr val="00B0F0"/>
                </a:solidFill>
                <a:latin typeface="Kanit Light" panose="00000400000000000000" pitchFamily="2" charset="-34"/>
                <a:ea typeface="Verdana" panose="020B0604030504040204" pitchFamily="34" charset="0"/>
                <a:cs typeface="Kanit Light" panose="00000400000000000000" pitchFamily="2" charset="-34"/>
              </a:rPr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EEF808-9BD6-AFBF-E6D9-1A71149D153B}"/>
              </a:ext>
            </a:extLst>
          </p:cNvPr>
          <p:cNvSpPr txBox="1"/>
          <p:nvPr/>
        </p:nvSpPr>
        <p:spPr>
          <a:xfrm>
            <a:off x="1103376" y="5878576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dirty="0">
                <a:solidFill>
                  <a:srgbClr val="00B0F0"/>
                </a:solidFill>
                <a:latin typeface="Kanit Light" panose="00000400000000000000" pitchFamily="2" charset="-34"/>
                <a:ea typeface="Verdana" panose="020B0604030504040204" pitchFamily="34" charset="0"/>
                <a:cs typeface="Kanit Light" panose="00000400000000000000" pitchFamily="2" charset="-34"/>
                <a:hlinkClick r:id="rId4"/>
              </a:rPr>
              <a:t>Prompt Snippets</a:t>
            </a:r>
            <a:r>
              <a:rPr lang="de-DE" b="1" dirty="0">
                <a:solidFill>
                  <a:srgbClr val="00B0F0"/>
                </a:solidFill>
                <a:latin typeface="Kanit Light" panose="00000400000000000000" pitchFamily="2" charset="-34"/>
                <a:ea typeface="Verdana" panose="020B0604030504040204" pitchFamily="34" charset="0"/>
                <a:cs typeface="Kanit Light" panose="00000400000000000000" pitchFamily="2" charset="-34"/>
              </a:rPr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DF4B32-0641-55A8-F304-86E1F35BA7C6}"/>
              </a:ext>
            </a:extLst>
          </p:cNvPr>
          <p:cNvSpPr txBox="1"/>
          <p:nvPr/>
        </p:nvSpPr>
        <p:spPr>
          <a:xfrm>
            <a:off x="2891436" y="2705725"/>
            <a:ext cx="64091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400" b="1" dirty="0">
                <a:latin typeface="Kanit ExtraBold" panose="00000900000000000000" pitchFamily="2" charset="-34"/>
                <a:cs typeface="Kanit ExtraBold" panose="00000900000000000000" pitchFamily="2" charset="-34"/>
              </a:rPr>
              <a:t>Claude Code Crash Course for Developers</a:t>
            </a:r>
          </a:p>
          <a:p>
            <a:pPr algn="ctr"/>
            <a:endParaRPr lang="de-DE" sz="2400" b="1" dirty="0">
              <a:latin typeface="Kanit ExtraBold" panose="00000900000000000000" pitchFamily="2" charset="-34"/>
              <a:cs typeface="Kanit ExtraBold" panose="00000900000000000000" pitchFamily="2" charset="-34"/>
            </a:endParaRPr>
          </a:p>
          <a:p>
            <a:pPr algn="ctr"/>
            <a:r>
              <a:rPr lang="de-DE" sz="2400" b="1" dirty="0">
                <a:latin typeface="Kanit ExtraBold" panose="00000900000000000000" pitchFamily="2" charset="-34"/>
                <a:cs typeface="Kanit ExtraBold" panose="00000900000000000000" pitchFamily="2" charset="-34"/>
              </a:rPr>
              <a:t> </a:t>
            </a:r>
          </a:p>
          <a:p>
            <a:pPr algn="ctr"/>
            <a:r>
              <a:rPr lang="de-DE" sz="1600" i="1" dirty="0">
                <a:latin typeface="Kanit" panose="00000500000000000000" pitchFamily="2" charset="-34"/>
                <a:cs typeface="Kanit" panose="00000500000000000000" pitchFamily="2" charset="-34"/>
              </a:rPr>
              <a:t>Brad Traversy - Traversy Media</a:t>
            </a:r>
          </a:p>
        </p:txBody>
      </p:sp>
    </p:spTree>
    <p:extLst>
      <p:ext uri="{BB962C8B-B14F-4D97-AF65-F5344CB8AC3E}">
        <p14:creationId xmlns:p14="http://schemas.microsoft.com/office/powerpoint/2010/main" val="31594861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FA65EFA-BC92-735B-CADD-6DC92D89D1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042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32BEA4-A4B2-255C-2ABB-AA0806451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448CC3F-4F71-886E-CD24-BDBB7AE32B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" y="0"/>
            <a:ext cx="10972801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E886587-D5B1-AFED-84BE-0A403005BA01}"/>
              </a:ext>
            </a:extLst>
          </p:cNvPr>
          <p:cNvSpPr txBox="1"/>
          <p:nvPr/>
        </p:nvSpPr>
        <p:spPr>
          <a:xfrm>
            <a:off x="6315075" y="616850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hlinkClick r:id="rId4"/>
              </a:rPr>
              <a:t>https://github.com/bradtraversy/crypto-dash</a:t>
            </a:r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1526597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7E2C57-8801-5A64-D4EB-9242C9A79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BD05163-BBFE-FE69-B5CF-B1931C4E41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05804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30C2C0-65B1-715B-5AF6-BAEFF2E34E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4FB8777-B6C6-B907-A3C6-174E50010C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6156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85486-BE25-FEAB-F45B-EE60D4602E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9C77E55-20D1-8D78-B71A-2753A1D2418D}"/>
              </a:ext>
            </a:extLst>
          </p:cNvPr>
          <p:cNvSpPr txBox="1"/>
          <p:nvPr/>
        </p:nvSpPr>
        <p:spPr>
          <a:xfrm>
            <a:off x="1716505" y="876730"/>
            <a:ext cx="8758990" cy="51045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4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Context7</a:t>
            </a:r>
            <a:r>
              <a:rPr lang="en-US" sz="14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(made by </a:t>
            </a:r>
            <a:r>
              <a:rPr lang="en-US" sz="1400" b="0" i="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Upstash</a:t>
            </a:r>
            <a:r>
              <a:rPr lang="en-US" sz="14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233363" indent="-233363" algn="l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4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Gives Claude current documentation for a specific version of a library, pulled straight from the source.</a:t>
            </a:r>
          </a:p>
          <a:p>
            <a:pPr marL="233363" indent="-233363" algn="l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4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Prevents code that uses outdated or made-up APIs, such as React Router v7 versus react-router-dom.</a:t>
            </a:r>
          </a:p>
          <a:p>
            <a:pPr marL="233363" indent="-233363" algn="l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4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It has two tools: one finds a library's ID and the other fetches that library's docs.</a:t>
            </a:r>
          </a:p>
          <a:p>
            <a:pPr marL="233363" indent="-233363" algn="l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4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To use it, you usually add "use context7" to your prompt.</a:t>
            </a:r>
          </a:p>
          <a:p>
            <a:pPr algn="l">
              <a:lnSpc>
                <a:spcPct val="130000"/>
              </a:lnSpc>
              <a:buFont typeface="Arial" panose="020B0604020202020204" pitchFamily="34" charset="0"/>
              <a:buChar char="•"/>
            </a:pPr>
            <a:endParaRPr lang="en-US" sz="1400" b="0" i="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>
              <a:lnSpc>
                <a:spcPct val="130000"/>
              </a:lnSpc>
              <a:buNone/>
            </a:pPr>
            <a:r>
              <a:rPr lang="en-US" sz="14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Neon</a:t>
            </a:r>
            <a:r>
              <a:rPr lang="en-US" sz="14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(serverless Postgres)</a:t>
            </a:r>
          </a:p>
          <a:p>
            <a:pPr marL="233363" indent="-233363" algn="l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4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Lets Claude manage your Neon Postgres projects, branches and databases through plain-language requests.</a:t>
            </a:r>
          </a:p>
          <a:p>
            <a:pPr marL="233363" indent="-233363" algn="l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4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Claude can run SQL, inspect schemas and create or delete branches.</a:t>
            </a:r>
          </a:p>
          <a:p>
            <a:pPr marL="233363" indent="-233363" algn="l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4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It can run a schema migration safely by testing it on a temporary branch before applying it to the main one.</a:t>
            </a:r>
          </a:p>
          <a:p>
            <a:pPr marL="233363" indent="-233363" algn="l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4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It needs a Neon API key or an OAuth login.</a:t>
            </a:r>
          </a:p>
          <a:p>
            <a:pPr marL="233363" indent="-233363" algn="l">
              <a:lnSpc>
                <a:spcPct val="130000"/>
              </a:lnSpc>
              <a:buFont typeface="Arial" panose="020B0604020202020204" pitchFamily="34" charset="0"/>
              <a:buChar char="•"/>
            </a:pPr>
            <a:endParaRPr lang="en-US" sz="1400" b="0" i="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33363" indent="-233363" algn="l">
              <a:lnSpc>
                <a:spcPct val="130000"/>
              </a:lnSpc>
              <a:buNone/>
            </a:pPr>
            <a:r>
              <a:rPr lang="en-US" sz="14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Playwright</a:t>
            </a:r>
            <a:r>
              <a:rPr lang="en-US" sz="14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(made by Microsoft)</a:t>
            </a:r>
          </a:p>
          <a:p>
            <a:pPr marL="233363" indent="-233363" algn="l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4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Lets Claude drive a real browser: open pages, click, type, fill in forms and take screenshots.</a:t>
            </a:r>
          </a:p>
          <a:p>
            <a:pPr marL="233363" indent="-233363" algn="l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4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It reads the page's accessibility tree rather than pixels, so it's fast and dependable.</a:t>
            </a:r>
          </a:p>
          <a:p>
            <a:pPr marL="233363" indent="-233363" algn="l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4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It's useful for checking UI changes in the app you're running, like the favorites toggle in crypto-dash.</a:t>
            </a:r>
          </a:p>
          <a:p>
            <a:pPr marL="233363" indent="-233363" algn="l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4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It's also used for scraping pages and writing end-to-end tests.</a:t>
            </a:r>
          </a:p>
        </p:txBody>
      </p:sp>
    </p:spTree>
    <p:extLst>
      <p:ext uri="{BB962C8B-B14F-4D97-AF65-F5344CB8AC3E}">
        <p14:creationId xmlns:p14="http://schemas.microsoft.com/office/powerpoint/2010/main" val="14478662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3EADCD-D817-9C4F-79F1-67FAF1FB9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72441C2-0310-5507-6C5A-EFB01907C5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26813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81C4E-45EC-EA94-54F5-220DDE47C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645673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431</TotalTime>
  <Words>336</Words>
  <Application>Microsoft Office PowerPoint</Application>
  <PresentationFormat>Widescreen</PresentationFormat>
  <Paragraphs>42</Paragraphs>
  <Slides>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Arial</vt:lpstr>
      <vt:lpstr>Calibri</vt:lpstr>
      <vt:lpstr>Calibri Light</vt:lpstr>
      <vt:lpstr>Kanit</vt:lpstr>
      <vt:lpstr>Kanit ExtraBold</vt:lpstr>
      <vt:lpstr>Kanit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tim.erdmann87@outlook.com</dc:creator>
  <cp:lastModifiedBy>tim.erdmann87@outlook.com</cp:lastModifiedBy>
  <cp:revision>9</cp:revision>
  <dcterms:created xsi:type="dcterms:W3CDTF">2024-05-04T23:53:57Z</dcterms:created>
  <dcterms:modified xsi:type="dcterms:W3CDTF">2026-09-28T04:20:06Z</dcterms:modified>
</cp:coreProperties>
</file>